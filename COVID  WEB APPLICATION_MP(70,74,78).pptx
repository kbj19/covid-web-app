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15"/>
  </p:notesMasterIdLst>
  <p:handoutMasterIdLst>
    <p:handoutMasterId r:id="rId16"/>
  </p:handoutMasterIdLst>
  <p:sldIdLst>
    <p:sldId id="257" r:id="rId5"/>
    <p:sldId id="389" r:id="rId6"/>
    <p:sldId id="384" r:id="rId7"/>
    <p:sldId id="317" r:id="rId8"/>
    <p:sldId id="278" r:id="rId9"/>
    <p:sldId id="279" r:id="rId10"/>
    <p:sldId id="272" r:id="rId11"/>
    <p:sldId id="392" r:id="rId12"/>
    <p:sldId id="393" r:id="rId13"/>
    <p:sldId id="39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25" autoAdjust="0"/>
  </p:normalViewPr>
  <p:slideViewPr>
    <p:cSldViewPr snapToGrid="0">
      <p:cViewPr varScale="1">
        <p:scale>
          <a:sx n="86" d="100"/>
          <a:sy n="86" d="100"/>
        </p:scale>
        <p:origin x="562" y="58"/>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t>5/13/2022</a:t>
            </a:fld>
            <a:endParaRPr lang="en-US"/>
          </a:p>
        </p:txBody>
      </p:sp>
      <p:sp>
        <p:nvSpPr>
          <p:cNvPr id="4" name="Footer Placeholder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t>‹#›</a:t>
            </a:fld>
            <a:endParaRPr lang="en-US"/>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t>5/13/2022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t>‹#›</a:t>
            </a:fld>
            <a:endParaRPr lang="en-US"/>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a:t>
            </a:fld>
            <a:endParaRPr lang="en-US"/>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1586550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7</a:t>
            </a:fld>
            <a:endParaRPr lang="en-US"/>
          </a:p>
        </p:txBody>
      </p:sp>
    </p:spTree>
    <p:extLst>
      <p:ext uri="{BB962C8B-B14F-4D97-AF65-F5344CB8AC3E}">
        <p14:creationId xmlns:p14="http://schemas.microsoft.com/office/powerpoint/2010/main" val="514541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endParaRPr lang="en-US" dirty="0"/>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endParaRPr lang="en-US" dirty="0"/>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999414" y="1051551"/>
            <a:ext cx="3565524" cy="2384898"/>
          </a:xfrm>
        </p:spPr>
        <p:txBody>
          <a:bodyPr anchor="b" anchorCtr="0">
            <a:normAutofit fontScale="90000"/>
          </a:bodyPr>
          <a:lstStyle/>
          <a:p>
            <a:r>
              <a:rPr lang="en-US" dirty="0"/>
              <a:t>COVID  WEB APPLICATION</a:t>
            </a:r>
            <a:br>
              <a:rPr lang="en-US" dirty="0"/>
            </a:br>
            <a:endParaRPr lang="en-US" dirty="0"/>
          </a:p>
        </p:txBody>
      </p:sp>
      <p:pic>
        <p:nvPicPr>
          <p:cNvPr id="14" name="Picture Placeholder 13" descr="Data Points Digital background">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sp>
        <p:nvSpPr>
          <p:cNvPr id="3" name="Subtitle 2">
            <a:extLst>
              <a:ext uri="{FF2B5EF4-FFF2-40B4-BE49-F238E27FC236}">
                <a16:creationId xmlns:a16="http://schemas.microsoft.com/office/drawing/2014/main" id="{D9A11267-FC52-4990-8D98-010AFABA5544}"/>
              </a:ext>
            </a:extLst>
          </p:cNvPr>
          <p:cNvSpPr>
            <a:spLocks noGrp="1"/>
          </p:cNvSpPr>
          <p:nvPr>
            <p:ph type="body" sz="quarter" idx="14"/>
          </p:nvPr>
        </p:nvSpPr>
        <p:spPr>
          <a:xfrm>
            <a:off x="7999413" y="3568700"/>
            <a:ext cx="3565524" cy="1473817"/>
          </a:xfrm>
        </p:spPr>
        <p:txBody>
          <a:bodyPr>
            <a:normAutofit fontScale="85000" lnSpcReduction="10000"/>
          </a:bodyPr>
          <a:lstStyle/>
          <a:p>
            <a:r>
              <a:rPr lang="en-US" dirty="0"/>
              <a:t>DHAIRYE GALA 16010120070</a:t>
            </a:r>
          </a:p>
          <a:p>
            <a:r>
              <a:rPr lang="en-US" dirty="0"/>
              <a:t>KHUSHAL JHAVERI 16010120074</a:t>
            </a:r>
          </a:p>
          <a:p>
            <a:r>
              <a:rPr lang="en-US" dirty="0"/>
              <a:t>ANANNYA KHEDEKAR 16010120078</a:t>
            </a:r>
          </a:p>
        </p:txBody>
      </p: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426E-F6F6-4A7C-9181-8C3090996261}"/>
              </a:ext>
            </a:extLst>
          </p:cNvPr>
          <p:cNvSpPr>
            <a:spLocks noGrp="1"/>
          </p:cNvSpPr>
          <p:nvPr>
            <p:ph type="title"/>
          </p:nvPr>
        </p:nvSpPr>
        <p:spPr>
          <a:xfrm>
            <a:off x="550864" y="549276"/>
            <a:ext cx="3565524" cy="942174"/>
          </a:xfrm>
        </p:spPr>
        <p:txBody>
          <a:bodyPr/>
          <a:lstStyle/>
          <a:p>
            <a:r>
              <a:rPr lang="en-US" dirty="0"/>
              <a:t>INDEX</a:t>
            </a:r>
          </a:p>
        </p:txBody>
      </p:sp>
      <p:sp>
        <p:nvSpPr>
          <p:cNvPr id="3" name="Content Placeholder 2">
            <a:extLst>
              <a:ext uri="{FF2B5EF4-FFF2-40B4-BE49-F238E27FC236}">
                <a16:creationId xmlns:a16="http://schemas.microsoft.com/office/drawing/2014/main" id="{D3B60D6F-4D0F-4D33-B2A7-159C8583FF00}"/>
              </a:ext>
            </a:extLst>
          </p:cNvPr>
          <p:cNvSpPr>
            <a:spLocks noGrp="1"/>
          </p:cNvSpPr>
          <p:nvPr>
            <p:ph idx="1"/>
          </p:nvPr>
        </p:nvSpPr>
        <p:spPr>
          <a:xfrm>
            <a:off x="355554" y="1753634"/>
            <a:ext cx="3565525" cy="3415519"/>
          </a:xfrm>
        </p:spPr>
        <p:txBody>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Scope of the project</a:t>
            </a:r>
          </a:p>
          <a:p>
            <a:pPr marL="342900" indent="-342900">
              <a:buFont typeface="Arial" panose="020B0604020202020204" pitchFamily="34" charset="0"/>
              <a:buChar char="•"/>
            </a:pPr>
            <a:r>
              <a:rPr lang="en-US" dirty="0"/>
              <a:t>Problem definition</a:t>
            </a:r>
          </a:p>
          <a:p>
            <a:pPr marL="342900" indent="-342900">
              <a:buFont typeface="Arial" panose="020B0604020202020204" pitchFamily="34" charset="0"/>
              <a:buChar char="•"/>
            </a:pPr>
            <a:r>
              <a:rPr lang="en-US" dirty="0"/>
              <a:t>Requirements</a:t>
            </a:r>
          </a:p>
          <a:p>
            <a:pPr marL="342900" indent="-342900">
              <a:buFont typeface="Arial" panose="020B0604020202020204" pitchFamily="34" charset="0"/>
              <a:buChar char="•"/>
            </a:pPr>
            <a:r>
              <a:rPr lang="en-US" dirty="0"/>
              <a:t>System Design</a:t>
            </a:r>
          </a:p>
          <a:p>
            <a:pPr marL="342900" indent="-342900">
              <a:buFont typeface="Arial" panose="020B0604020202020204" pitchFamily="34" charset="0"/>
              <a:buChar char="•"/>
            </a:pPr>
            <a:r>
              <a:rPr lang="en-US" dirty="0"/>
              <a:t>System Architecture</a:t>
            </a:r>
          </a:p>
          <a:p>
            <a:pPr marL="342900" indent="-342900">
              <a:buFont typeface="Arial" panose="020B0604020202020204" pitchFamily="34" charset="0"/>
              <a:buChar char="•"/>
            </a:pPr>
            <a:r>
              <a:rPr lang="en-US" dirty="0"/>
              <a:t>System Development </a:t>
            </a:r>
          </a:p>
          <a:p>
            <a:endParaRPr lang="en-US" dirty="0"/>
          </a:p>
        </p:txBody>
      </p:sp>
      <p:pic>
        <p:nvPicPr>
          <p:cNvPr id="8" name="Picture Placeholder 7" descr="Digital Data">
            <a:extLst>
              <a:ext uri="{FF2B5EF4-FFF2-40B4-BE49-F238E27FC236}">
                <a16:creationId xmlns:a16="http://schemas.microsoft.com/office/drawing/2014/main" id="{06D2324F-3B7B-45EF-9584-C8EADD2C8C0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5208928" y="1596771"/>
            <a:ext cx="3448558" cy="3448558"/>
          </a:xfrm>
        </p:spPr>
      </p:pic>
      <p:pic>
        <p:nvPicPr>
          <p:cNvPr id="10" name="Picture Placeholder 9" descr="Data Points ">
            <a:extLst>
              <a:ext uri="{FF2B5EF4-FFF2-40B4-BE49-F238E27FC236}">
                <a16:creationId xmlns:a16="http://schemas.microsoft.com/office/drawing/2014/main" id="{71F862F9-0E8A-4DB9-8083-1C3AA6E5D777}"/>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918575" y="596392"/>
            <a:ext cx="2263776" cy="2263776"/>
          </a:xfrm>
        </p:spPr>
      </p:pic>
      <p:pic>
        <p:nvPicPr>
          <p:cNvPr id="12" name="Picture Placeholder 11" descr="Data Background">
            <a:extLst>
              <a:ext uri="{FF2B5EF4-FFF2-40B4-BE49-F238E27FC236}">
                <a16:creationId xmlns:a16="http://schemas.microsoft.com/office/drawing/2014/main" id="{A63F39B9-0715-40B5-8ECB-9B983F99C690}"/>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9091612" y="3324733"/>
            <a:ext cx="2936876" cy="2936876"/>
          </a:xfrm>
        </p:spPr>
      </p:pic>
      <p:sp>
        <p:nvSpPr>
          <p:cNvPr id="15" name="Slide Number Placeholder 14">
            <a:extLst>
              <a:ext uri="{FF2B5EF4-FFF2-40B4-BE49-F238E27FC236}">
                <a16:creationId xmlns:a16="http://schemas.microsoft.com/office/drawing/2014/main" id="{3B199C97-F175-437D-8311-DB662925C06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2</a:t>
            </a:fld>
            <a:endParaRPr lang="en-US"/>
          </a:p>
        </p:txBody>
      </p:sp>
    </p:spTree>
    <p:extLst>
      <p:ext uri="{BB962C8B-B14F-4D97-AF65-F5344CB8AC3E}">
        <p14:creationId xmlns:p14="http://schemas.microsoft.com/office/powerpoint/2010/main" val="2313234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3418ADF-358F-4647-A511-FCFFEDA83429}"/>
              </a:ext>
            </a:extLst>
          </p:cNvPr>
          <p:cNvSpPr>
            <a:spLocks noGrp="1"/>
          </p:cNvSpPr>
          <p:nvPr>
            <p:ph type="title"/>
          </p:nvPr>
        </p:nvSpPr>
        <p:spPr>
          <a:xfrm>
            <a:off x="550863" y="4507200"/>
            <a:ext cx="4500562" cy="1562959"/>
          </a:xfrm>
        </p:spPr>
        <p:txBody>
          <a:bodyPr/>
          <a:lstStyle/>
          <a:p>
            <a:r>
              <a:rPr lang="en-US" dirty="0"/>
              <a:t>Introduction</a:t>
            </a:r>
          </a:p>
        </p:txBody>
      </p:sp>
      <p:pic>
        <p:nvPicPr>
          <p:cNvPr id="18" name="Picture Placeholder 17" descr="A group of people sitting at a table">
            <a:extLst>
              <a:ext uri="{FF2B5EF4-FFF2-40B4-BE49-F238E27FC236}">
                <a16:creationId xmlns:a16="http://schemas.microsoft.com/office/drawing/2014/main" id="{E2536017-F539-430C-A901-70AB81CA612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42" b="42"/>
          <a:stretch/>
        </p:blipFill>
        <p:spPr>
          <a:xfrm>
            <a:off x="0" y="0"/>
            <a:ext cx="3054096" cy="3776472"/>
          </a:xfrm>
        </p:spPr>
      </p:pic>
      <p:pic>
        <p:nvPicPr>
          <p:cNvPr id="20" name="Picture Placeholder 19" descr="Data Points Digital background">
            <a:extLst>
              <a:ext uri="{FF2B5EF4-FFF2-40B4-BE49-F238E27FC236}">
                <a16:creationId xmlns:a16="http://schemas.microsoft.com/office/drawing/2014/main" id="{528A7D8D-1AB5-46C4-93FA-D92C2FD51692}"/>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t="42" b="42"/>
          <a:stretch/>
        </p:blipFill>
        <p:spPr>
          <a:xfrm>
            <a:off x="3054096" y="0"/>
            <a:ext cx="3054096" cy="3776472"/>
          </a:xfrm>
        </p:spPr>
      </p:pic>
      <p:pic>
        <p:nvPicPr>
          <p:cNvPr id="25" name="Picture Placeholder 24" descr="Digital Graph Screen">
            <a:extLst>
              <a:ext uri="{FF2B5EF4-FFF2-40B4-BE49-F238E27FC236}">
                <a16:creationId xmlns:a16="http://schemas.microsoft.com/office/drawing/2014/main" id="{B7353C46-ACC1-4078-85C2-26B57B0E58B7}"/>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t="42" b="42"/>
          <a:stretch/>
        </p:blipFill>
        <p:spPr>
          <a:xfrm>
            <a:off x="9137904" y="0"/>
            <a:ext cx="3054096" cy="3776472"/>
          </a:xfrm>
        </p:spPr>
      </p:pic>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3</a:t>
            </a:fld>
            <a:endParaRPr lang="en-US"/>
          </a:p>
        </p:txBody>
      </p:sp>
      <p:pic>
        <p:nvPicPr>
          <p:cNvPr id="23" name="Picture Placeholder 22" descr="A person drawing on a white board">
            <a:extLst>
              <a:ext uri="{FF2B5EF4-FFF2-40B4-BE49-F238E27FC236}">
                <a16:creationId xmlns:a16="http://schemas.microsoft.com/office/drawing/2014/main" id="{2B3C4F95-A0FA-45D9-BF43-1C398F65B891}"/>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val="0"/>
              </a:ext>
            </a:extLst>
          </a:blip>
          <a:srcRect t="42" b="42"/>
          <a:stretch/>
        </p:blipFill>
        <p:spPr>
          <a:xfrm>
            <a:off x="6083808" y="0"/>
            <a:ext cx="3054096" cy="3776472"/>
          </a:xfrm>
        </p:spPr>
      </p:pic>
      <p:sp>
        <p:nvSpPr>
          <p:cNvPr id="12" name="Content Placeholder 11">
            <a:extLst>
              <a:ext uri="{FF2B5EF4-FFF2-40B4-BE49-F238E27FC236}">
                <a16:creationId xmlns:a16="http://schemas.microsoft.com/office/drawing/2014/main" id="{E5127060-CDBF-435F-9009-A5451CCE305D}"/>
              </a:ext>
            </a:extLst>
          </p:cNvPr>
          <p:cNvSpPr>
            <a:spLocks noGrp="1"/>
          </p:cNvSpPr>
          <p:nvPr>
            <p:ph sz="quarter" idx="15"/>
          </p:nvPr>
        </p:nvSpPr>
        <p:spPr>
          <a:xfrm>
            <a:off x="5262563" y="4508500"/>
            <a:ext cx="6221412" cy="1563688"/>
          </a:xfrm>
          <a:noFill/>
        </p:spPr>
        <p:txBody>
          <a:bodyPr>
            <a:normAutofit/>
          </a:bodyPr>
          <a:lstStyle/>
          <a:p>
            <a:pPr marL="0" indent="0">
              <a:buNone/>
            </a:pPr>
            <a:r>
              <a:rPr lang="en-US" dirty="0"/>
              <a:t>Corona virus and its increasing cases and a need for a multifeatured app where all related data is sorted so people don’t need to jump between different apps and hence reduce the hassle</a:t>
            </a:r>
          </a:p>
        </p:txBody>
      </p:sp>
    </p:spTree>
    <p:extLst>
      <p:ext uri="{BB962C8B-B14F-4D97-AF65-F5344CB8AC3E}">
        <p14:creationId xmlns:p14="http://schemas.microsoft.com/office/powerpoint/2010/main" val="2158886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0" name="Group 3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1" name="Freeform: Shape 4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Oval 4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4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46" name="Rectangle 4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3C64A91D-E535-4C24-A0E3-96A3810E3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FC4867-BA3E-4F8E-AB23-684F34DF3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550863" y="1049157"/>
            <a:ext cx="5805549" cy="2125927"/>
          </a:xfrm>
        </p:spPr>
        <p:txBody>
          <a:bodyPr vert="horz" wrap="square" lIns="0" tIns="0" rIns="0" bIns="0" rtlCol="0" anchor="b" anchorCtr="0">
            <a:normAutofit fontScale="90000"/>
          </a:bodyPr>
          <a:lstStyle/>
          <a:p>
            <a:pPr>
              <a:lnSpc>
                <a:spcPct val="100000"/>
              </a:lnSpc>
            </a:pPr>
            <a:r>
              <a:rPr lang="en-US" sz="4800" dirty="0"/>
              <a:t>Scope of the project :</a:t>
            </a:r>
            <a:br>
              <a:rPr lang="en-US" sz="4800" dirty="0"/>
            </a:br>
            <a:r>
              <a:rPr lang="en-US" sz="4800" dirty="0"/>
              <a:t> </a:t>
            </a:r>
            <a:br>
              <a:rPr lang="en-US" dirty="0"/>
            </a:br>
            <a:endParaRPr lang="en-US" sz="6400" kern="1200" dirty="0">
              <a:solidFill>
                <a:schemeClr val="tx1"/>
              </a:solidFill>
              <a:latin typeface="+mj-lt"/>
              <a:ea typeface="+mj-ea"/>
              <a:cs typeface="+mj-cs"/>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735043" y="2410859"/>
            <a:ext cx="5848144" cy="3397983"/>
          </a:xfrm>
        </p:spPr>
        <p:txBody>
          <a:bodyPr vert="horz" wrap="square" lIns="0" tIns="0" rIns="0" bIns="0" rtlCol="0">
            <a:normAutofit fontScale="92500" lnSpcReduction="10000"/>
          </a:bodyPr>
          <a:lstStyle/>
          <a:p>
            <a:pPr marL="0" indent="0">
              <a:lnSpc>
                <a:spcPct val="100000"/>
              </a:lnSpc>
              <a:buNone/>
            </a:pPr>
            <a:r>
              <a:rPr lang="en-US" kern="1200" dirty="0">
                <a:latin typeface="+mn-lt"/>
                <a:ea typeface="+mn-ea"/>
                <a:cs typeface="+mn-cs"/>
              </a:rPr>
              <a:t>Web applications to create graphs and charts to show which place has shown higher number of cases. We will also be using real time data for the same . It also shows Mumbai hospital data like the beds available , vaccines </a:t>
            </a:r>
            <a:r>
              <a:rPr lang="en-US" kern="1200" dirty="0" err="1">
                <a:latin typeface="+mn-lt"/>
                <a:ea typeface="+mn-ea"/>
                <a:cs typeface="+mn-cs"/>
              </a:rPr>
              <a:t>etc</a:t>
            </a:r>
            <a:r>
              <a:rPr lang="en-US" kern="1200" dirty="0">
                <a:latin typeface="+mn-lt"/>
                <a:ea typeface="+mn-ea"/>
                <a:cs typeface="+mn-cs"/>
              </a:rPr>
              <a:t> .</a:t>
            </a:r>
          </a:p>
          <a:p>
            <a:pPr marL="0" indent="0">
              <a:lnSpc>
                <a:spcPct val="100000"/>
              </a:lnSpc>
              <a:buNone/>
            </a:pPr>
            <a:r>
              <a:rPr lang="en-US" dirty="0"/>
              <a:t>And a hospital admin can login and update data anytime </a:t>
            </a:r>
          </a:p>
          <a:p>
            <a:pPr marL="0" indent="0">
              <a:lnSpc>
                <a:spcPct val="100000"/>
              </a:lnSpc>
              <a:buNone/>
            </a:pPr>
            <a:r>
              <a:rPr lang="en-US" dirty="0"/>
              <a:t>This project will also help to spread awareness about the pandemic </a:t>
            </a:r>
          </a:p>
          <a:p>
            <a:pPr marL="0" indent="0">
              <a:lnSpc>
                <a:spcPct val="100000"/>
              </a:lnSpc>
              <a:buNone/>
            </a:pPr>
            <a:endParaRPr lang="en-US" kern="1200" dirty="0">
              <a:latin typeface="+mn-lt"/>
              <a:ea typeface="+mn-ea"/>
              <a:cs typeface="+mn-cs"/>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a:t>Tuesday, February 2, 20XX</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4</a:t>
            </a:fld>
            <a:endParaRPr lang="en-US"/>
          </a:p>
        </p:txBody>
      </p:sp>
    </p:spTree>
    <p:extLst>
      <p:ext uri="{BB962C8B-B14F-4D97-AF65-F5344CB8AC3E}">
        <p14:creationId xmlns:p14="http://schemas.microsoft.com/office/powerpoint/2010/main" val="560021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02D8-1D22-4940-AF19-07CF3A0DC5F4}"/>
              </a:ext>
            </a:extLst>
          </p:cNvPr>
          <p:cNvSpPr>
            <a:spLocks noGrp="1"/>
          </p:cNvSpPr>
          <p:nvPr>
            <p:ph type="title"/>
          </p:nvPr>
        </p:nvSpPr>
        <p:spPr>
          <a:xfrm>
            <a:off x="549537" y="1011706"/>
            <a:ext cx="11091600" cy="1332000"/>
          </a:xfrm>
        </p:spPr>
        <p:txBody>
          <a:bodyPr/>
          <a:lstStyle/>
          <a:p>
            <a:r>
              <a:rPr lang="en-US" dirty="0"/>
              <a:t>Problem definition:</a:t>
            </a:r>
          </a:p>
        </p:txBody>
      </p:sp>
      <p:sp>
        <p:nvSpPr>
          <p:cNvPr id="14" name="Date Placeholder 13">
            <a:extLst>
              <a:ext uri="{FF2B5EF4-FFF2-40B4-BE49-F238E27FC236}">
                <a16:creationId xmlns:a16="http://schemas.microsoft.com/office/drawing/2014/main" id="{DC738669-5750-45EA-9715-A0041D4C569B}"/>
              </a:ext>
            </a:extLst>
          </p:cNvPr>
          <p:cNvSpPr>
            <a:spLocks noGrp="1"/>
          </p:cNvSpPr>
          <p:nvPr>
            <p:ph type="dt" sz="half" idx="10"/>
          </p:nvPr>
        </p:nvSpPr>
        <p:spPr>
          <a:xfrm>
            <a:off x="550863" y="6507212"/>
            <a:ext cx="2628900" cy="153888"/>
          </a:xfrm>
        </p:spPr>
        <p:txBody>
          <a:bodyPr/>
          <a:lstStyle/>
          <a:p>
            <a:r>
              <a:rPr lang="en-US"/>
              <a:t>Tuesday, February 2, 20XX</a:t>
            </a:r>
          </a:p>
        </p:txBody>
      </p:sp>
      <p:sp>
        <p:nvSpPr>
          <p:cNvPr id="15" name="Footer Placeholder 14">
            <a:extLst>
              <a:ext uri="{FF2B5EF4-FFF2-40B4-BE49-F238E27FC236}">
                <a16:creationId xmlns:a16="http://schemas.microsoft.com/office/drawing/2014/main" id="{CD05A243-8080-4F6D-8538-65CDDF891BA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16" name="Slide Number Placeholder 15">
            <a:extLst>
              <a:ext uri="{FF2B5EF4-FFF2-40B4-BE49-F238E27FC236}">
                <a16:creationId xmlns:a16="http://schemas.microsoft.com/office/drawing/2014/main" id="{3F8A62C8-5437-4C47-AC0F-0605F84CBA57}"/>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5</a:t>
            </a:fld>
            <a:endParaRPr lang="en-US"/>
          </a:p>
        </p:txBody>
      </p:sp>
      <p:sp>
        <p:nvSpPr>
          <p:cNvPr id="4" name="Content Placeholder 3">
            <a:extLst>
              <a:ext uri="{FF2B5EF4-FFF2-40B4-BE49-F238E27FC236}">
                <a16:creationId xmlns:a16="http://schemas.microsoft.com/office/drawing/2014/main" id="{26645FB2-729D-4ECC-950F-205FC5C2E82C}"/>
              </a:ext>
            </a:extLst>
          </p:cNvPr>
          <p:cNvSpPr>
            <a:spLocks noGrp="1"/>
          </p:cNvSpPr>
          <p:nvPr>
            <p:ph idx="1"/>
          </p:nvPr>
        </p:nvSpPr>
        <p:spPr>
          <a:xfrm>
            <a:off x="462086" y="2343706"/>
            <a:ext cx="11090274" cy="1722268"/>
          </a:xfrm>
        </p:spPr>
        <p:txBody>
          <a:bodyPr/>
          <a:lstStyle/>
          <a:p>
            <a:r>
              <a:rPr lang="en-IN" sz="1800" dirty="0">
                <a:effectLst/>
                <a:latin typeface="Times New Roman" panose="02020603050405020304" pitchFamily="18" charset="0"/>
                <a:ea typeface="Times New Roman" panose="02020603050405020304" pitchFamily="18" charset="0"/>
              </a:rPr>
              <a:t>In these times of covid it has become difficult to keep a track of cases around us and how safe it is to go out of our homes. </a:t>
            </a:r>
            <a:r>
              <a:rPr lang="en-IN" sz="1800" dirty="0">
                <a:latin typeface="Times New Roman" panose="02020603050405020304" pitchFamily="18" charset="0"/>
                <a:ea typeface="Times New Roman" panose="02020603050405020304" pitchFamily="18" charset="0"/>
              </a:rPr>
              <a:t>There are many websites available on the internet regarding covid 19 however we did not find one that covered hospital and resources in Mumbai in one place therefore this project displays exactly that. Graphs of total country wise covid cases  also are not displayed on websites where you can compare 1 country or 1 continent to the other with data being updated daily.</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49694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15EE852-24F1-4643-8082-AB45CFF2BA10}"/>
              </a:ext>
            </a:extLst>
          </p:cNvPr>
          <p:cNvSpPr>
            <a:spLocks noGrp="1"/>
          </p:cNvSpPr>
          <p:nvPr>
            <p:ph type="title"/>
          </p:nvPr>
        </p:nvSpPr>
        <p:spPr>
          <a:xfrm>
            <a:off x="550864" y="549274"/>
            <a:ext cx="3566160" cy="1262909"/>
          </a:xfrm>
        </p:spPr>
        <p:txBody>
          <a:bodyPr>
            <a:normAutofit/>
          </a:bodyPr>
          <a:lstStyle/>
          <a:p>
            <a:r>
              <a:rPr lang="en-US" dirty="0"/>
              <a:t>Requirements:</a:t>
            </a:r>
            <a:br>
              <a:rPr lang="en-US" dirty="0"/>
            </a:br>
            <a:endParaRPr lang="en-US" dirty="0"/>
          </a:p>
        </p:txBody>
      </p:sp>
      <p:sp>
        <p:nvSpPr>
          <p:cNvPr id="21" name="Slide Number Placeholder 20">
            <a:extLst>
              <a:ext uri="{FF2B5EF4-FFF2-40B4-BE49-F238E27FC236}">
                <a16:creationId xmlns:a16="http://schemas.microsoft.com/office/drawing/2014/main" id="{1C563B34-DD53-4FB1-B8C2-8914E01C6365}"/>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6</a:t>
            </a:fld>
            <a:endParaRPr lang="en-US"/>
          </a:p>
        </p:txBody>
      </p:sp>
      <p:sp>
        <p:nvSpPr>
          <p:cNvPr id="11" name="TextBox 10">
            <a:extLst>
              <a:ext uri="{FF2B5EF4-FFF2-40B4-BE49-F238E27FC236}">
                <a16:creationId xmlns:a16="http://schemas.microsoft.com/office/drawing/2014/main" id="{3A5AD1DC-EAF3-49AA-BE36-F83533FF83D1}"/>
              </a:ext>
            </a:extLst>
          </p:cNvPr>
          <p:cNvSpPr txBox="1"/>
          <p:nvPr/>
        </p:nvSpPr>
        <p:spPr>
          <a:xfrm>
            <a:off x="550863" y="2342716"/>
            <a:ext cx="9738355" cy="1262910"/>
          </a:xfrm>
          <a:prstGeom prst="rect">
            <a:avLst/>
          </a:prstGeom>
          <a:noFill/>
        </p:spPr>
        <p:txBody>
          <a:bodyPr wrap="square">
            <a:spAutoFit/>
          </a:bodyPr>
          <a:lstStyle/>
          <a:p>
            <a:pPr marL="342900" lvl="0" indent="-342900" algn="just" fontAlgn="base">
              <a:lnSpc>
                <a:spcPct val="115000"/>
              </a:lnSpc>
              <a:spcAft>
                <a:spcPts val="1000"/>
              </a:spcAft>
              <a:buFont typeface="+mj-lt"/>
              <a:buAutoNum type="arabicPeriod"/>
            </a:pPr>
            <a:r>
              <a:rPr lang="en-IN" sz="1800" dirty="0">
                <a:effectLst/>
                <a:latin typeface="Calibri" panose="020F0502020204030204" pitchFamily="34" charset="0"/>
                <a:ea typeface="Calibri" panose="020F0502020204030204" pitchFamily="34" charset="0"/>
              </a:rPr>
              <a:t>Modules for :  adding user details , viewing status of the number of cases in any </a:t>
            </a:r>
            <a:r>
              <a:rPr lang="en-IN" dirty="0">
                <a:latin typeface="Calibri" panose="020F0502020204030204" pitchFamily="34" charset="0"/>
                <a:ea typeface="Calibri" panose="020F0502020204030204" pitchFamily="34" charset="0"/>
              </a:rPr>
              <a:t>region</a:t>
            </a:r>
            <a:endParaRPr lang="en-IN" sz="1800" dirty="0">
              <a:effectLst/>
              <a:latin typeface="Calibri" panose="020F0502020204030204" pitchFamily="34" charset="0"/>
              <a:ea typeface="Calibri" panose="020F0502020204030204" pitchFamily="34" charset="0"/>
            </a:endParaRPr>
          </a:p>
          <a:p>
            <a:pPr marL="342900" lvl="0" indent="-342900" algn="just" fontAlgn="base">
              <a:lnSpc>
                <a:spcPct val="115000"/>
              </a:lnSpc>
              <a:spcAft>
                <a:spcPts val="1000"/>
              </a:spcAft>
              <a:buFont typeface="+mj-lt"/>
              <a:buAutoNum type="arabicPeriod"/>
            </a:pPr>
            <a:r>
              <a:rPr lang="en-IN" sz="1800" dirty="0">
                <a:effectLst/>
                <a:latin typeface="Calibri" panose="020F0502020204030204" pitchFamily="34" charset="0"/>
                <a:ea typeface="Calibri" panose="020F0502020204030204" pitchFamily="34" charset="0"/>
              </a:rPr>
              <a:t>Provide a user friendly website for fulfilling the above module.</a:t>
            </a:r>
          </a:p>
          <a:p>
            <a:pPr marL="342900" indent="-342900">
              <a:buFont typeface="+mj-lt"/>
              <a:buAutoNum type="arabicPeriod"/>
            </a:pPr>
            <a:r>
              <a:rPr lang="en-IN" sz="1800" dirty="0">
                <a:effectLst/>
                <a:latin typeface="Calibri" panose="020F0502020204030204" pitchFamily="34" charset="0"/>
                <a:ea typeface="Calibri" panose="020F0502020204030204" pitchFamily="34" charset="0"/>
              </a:rPr>
              <a:t>Provide assistance to use this software and also prevent any inconsistency in the operations</a:t>
            </a:r>
            <a:endParaRPr lang="en-IN" dirty="0"/>
          </a:p>
        </p:txBody>
      </p:sp>
    </p:spTree>
    <p:extLst>
      <p:ext uri="{BB962C8B-B14F-4D97-AF65-F5344CB8AC3E}">
        <p14:creationId xmlns:p14="http://schemas.microsoft.com/office/powerpoint/2010/main" val="39551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D72D26-24EF-4CBD-9431-A558CB7CA906}"/>
              </a:ext>
            </a:extLst>
          </p:cNvPr>
          <p:cNvSpPr>
            <a:spLocks noGrp="1"/>
          </p:cNvSpPr>
          <p:nvPr>
            <p:ph type="title"/>
          </p:nvPr>
        </p:nvSpPr>
        <p:spPr>
          <a:xfrm>
            <a:off x="451004" y="469375"/>
            <a:ext cx="11091600" cy="4297933"/>
          </a:xfrm>
        </p:spPr>
        <p:txBody>
          <a:bodyPr/>
          <a:lstStyle/>
          <a:p>
            <a:pPr fontAlgn="base"/>
            <a:r>
              <a:rPr lang="en-US" b="1" dirty="0">
                <a:effectLst/>
                <a:latin typeface="Times New Roman" panose="02020603050405020304" pitchFamily="18" charset="0"/>
                <a:ea typeface="Times New Roman" panose="02020603050405020304" pitchFamily="18" charset="0"/>
              </a:rPr>
              <a:t>The functionalities of our website include: </a:t>
            </a:r>
            <a:br>
              <a:rPr lang="en-IN" sz="1800" dirty="0">
                <a:effectLst/>
                <a:latin typeface="Times New Roman" panose="02020603050405020304" pitchFamily="18" charset="0"/>
                <a:ea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US" sz="1800" dirty="0">
                <a:effectLst/>
                <a:latin typeface="Times New Roman" panose="02020603050405020304" pitchFamily="18" charset="0"/>
                <a:ea typeface="Times New Roman" panose="02020603050405020304" pitchFamily="18" charset="0"/>
              </a:rPr>
            </a:br>
            <a:br>
              <a:rPr lang="en-US"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The </a:t>
            </a:r>
            <a:r>
              <a:rPr lang="en-US" sz="1800" dirty="0">
                <a:latin typeface="Times New Roman" panose="02020603050405020304" pitchFamily="18" charset="0"/>
                <a:ea typeface="Times New Roman" panose="02020603050405020304" pitchFamily="18" charset="0"/>
              </a:rPr>
              <a:t>admin </a:t>
            </a:r>
            <a:r>
              <a:rPr lang="en-US" sz="1800" dirty="0">
                <a:effectLst/>
                <a:latin typeface="Times New Roman" panose="02020603050405020304" pitchFamily="18" charset="0"/>
                <a:ea typeface="Times New Roman" panose="02020603050405020304" pitchFamily="18" charset="0"/>
              </a:rPr>
              <a:t>will give their inputs, Each user will have to provide their basic info to first login and then provide with all the information required to update the hospital data</a:t>
            </a:r>
            <a:br>
              <a:rPr lang="en-US"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The admin will be able to add real time data  as well as all the other information related to the </a:t>
            </a:r>
            <a:r>
              <a:rPr lang="en-US" sz="1800" dirty="0">
                <a:latin typeface="Times New Roman" panose="02020603050405020304" pitchFamily="18" charset="0"/>
                <a:ea typeface="Times New Roman" panose="02020603050405020304" pitchFamily="18" charset="0"/>
              </a:rPr>
              <a:t>bed availability </a:t>
            </a:r>
            <a:br>
              <a:rPr lang="en-US"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The </a:t>
            </a:r>
            <a:r>
              <a:rPr lang="en-US" sz="1800" dirty="0">
                <a:latin typeface="Times New Roman" panose="02020603050405020304" pitchFamily="18" charset="0"/>
                <a:ea typeface="Times New Roman" panose="02020603050405020304" pitchFamily="18" charset="0"/>
              </a:rPr>
              <a:t>admin</a:t>
            </a:r>
            <a:r>
              <a:rPr lang="en-US" sz="1800" dirty="0">
                <a:effectLst/>
                <a:latin typeface="Times New Roman" panose="02020603050405020304" pitchFamily="18" charset="0"/>
                <a:ea typeface="Times New Roman" panose="02020603050405020304" pitchFamily="18" charset="0"/>
              </a:rPr>
              <a:t> will be able to login and only enter the required details and will not be able to make any changes to other users data or any related data</a:t>
            </a:r>
            <a:br>
              <a:rPr lang="en-US"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The admin can make any changes in the outlook of the website and all the data pertaining to the website.</a:t>
            </a:r>
            <a:br>
              <a:rPr lang="en-US" sz="18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US" dirty="0"/>
          </a:p>
        </p:txBody>
      </p:sp>
      <p:sp>
        <p:nvSpPr>
          <p:cNvPr id="2" name="Date Placeholder 1">
            <a:extLst>
              <a:ext uri="{FF2B5EF4-FFF2-40B4-BE49-F238E27FC236}">
                <a16:creationId xmlns:a16="http://schemas.microsoft.com/office/drawing/2014/main" id="{81FCAF0A-629F-4EC6-B3E6-563ED999F360}"/>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7" name="Footer Placeholder 6">
            <a:extLst>
              <a:ext uri="{FF2B5EF4-FFF2-40B4-BE49-F238E27FC236}">
                <a16:creationId xmlns:a16="http://schemas.microsoft.com/office/drawing/2014/main" id="{920A7C57-D6C5-4BA0-AB3C-41D4E3436B0E}"/>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5E5CAC52-3FD1-464A-805A-B8F7AF04574A}"/>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7</a:t>
            </a:fld>
            <a:endParaRPr lang="en-US"/>
          </a:p>
        </p:txBody>
      </p:sp>
    </p:spTree>
    <p:extLst>
      <p:ext uri="{BB962C8B-B14F-4D97-AF65-F5344CB8AC3E}">
        <p14:creationId xmlns:p14="http://schemas.microsoft.com/office/powerpoint/2010/main" val="2624630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1518-C02F-4A35-B4A5-3EAA2F81085F}"/>
              </a:ext>
            </a:extLst>
          </p:cNvPr>
          <p:cNvSpPr>
            <a:spLocks noGrp="1"/>
          </p:cNvSpPr>
          <p:nvPr>
            <p:ph type="ctrTitle"/>
          </p:nvPr>
        </p:nvSpPr>
        <p:spPr>
          <a:xfrm>
            <a:off x="550863" y="1152957"/>
            <a:ext cx="5437187" cy="942174"/>
          </a:xfrm>
        </p:spPr>
        <p:txBody>
          <a:bodyPr/>
          <a:lstStyle/>
          <a:p>
            <a:r>
              <a:rPr lang="en-IN" dirty="0">
                <a:effectLst/>
                <a:latin typeface="Calibri" panose="020F0502020204030204" pitchFamily="34" charset="0"/>
                <a:ea typeface="Calibri" panose="020F0502020204030204" pitchFamily="34" charset="0"/>
              </a:rPr>
              <a:t>System development:</a:t>
            </a:r>
            <a:br>
              <a:rPr lang="en-IN" dirty="0">
                <a:effectLst/>
                <a:latin typeface="Calibri" panose="020F0502020204030204" pitchFamily="34" charset="0"/>
                <a:ea typeface="Calibri" panose="020F0502020204030204" pitchFamily="34" charset="0"/>
              </a:rPr>
            </a:br>
            <a:endParaRPr lang="en-IN" dirty="0"/>
          </a:p>
        </p:txBody>
      </p:sp>
      <p:sp>
        <p:nvSpPr>
          <p:cNvPr id="6" name="Date Placeholder 5">
            <a:extLst>
              <a:ext uri="{FF2B5EF4-FFF2-40B4-BE49-F238E27FC236}">
                <a16:creationId xmlns:a16="http://schemas.microsoft.com/office/drawing/2014/main" id="{5CBD8F97-1199-4318-865B-3E6F99C79AE2}"/>
              </a:ext>
            </a:extLst>
          </p:cNvPr>
          <p:cNvSpPr>
            <a:spLocks noGrp="1"/>
          </p:cNvSpPr>
          <p:nvPr>
            <p:ph type="dt" sz="half" idx="10"/>
          </p:nvPr>
        </p:nvSpPr>
        <p:spPr/>
        <p:txBody>
          <a:bodyPr/>
          <a:lstStyle/>
          <a:p>
            <a:r>
              <a:rPr lang="en-US"/>
              <a:t>Tuesday, February 2, 20XX</a:t>
            </a:r>
          </a:p>
        </p:txBody>
      </p:sp>
      <p:sp>
        <p:nvSpPr>
          <p:cNvPr id="7" name="Footer Placeholder 6">
            <a:extLst>
              <a:ext uri="{FF2B5EF4-FFF2-40B4-BE49-F238E27FC236}">
                <a16:creationId xmlns:a16="http://schemas.microsoft.com/office/drawing/2014/main" id="{06D3CCD0-AB72-45C3-A424-117AE534E05A}"/>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383037F0-B6C8-4304-A02F-443C5D7513F4}"/>
              </a:ext>
            </a:extLst>
          </p:cNvPr>
          <p:cNvSpPr>
            <a:spLocks noGrp="1"/>
          </p:cNvSpPr>
          <p:nvPr>
            <p:ph type="sldNum" sz="quarter" idx="12"/>
          </p:nvPr>
        </p:nvSpPr>
        <p:spPr/>
        <p:txBody>
          <a:bodyPr/>
          <a:lstStyle/>
          <a:p>
            <a:fld id="{DBA1B0FB-D917-4C8C-928F-313BD683BF39}" type="slidenum">
              <a:rPr lang="en-US" smtClean="0"/>
              <a:t>8</a:t>
            </a:fld>
            <a:endParaRPr lang="en-US"/>
          </a:p>
        </p:txBody>
      </p:sp>
      <p:sp>
        <p:nvSpPr>
          <p:cNvPr id="9" name="TextBox 8">
            <a:extLst>
              <a:ext uri="{FF2B5EF4-FFF2-40B4-BE49-F238E27FC236}">
                <a16:creationId xmlns:a16="http://schemas.microsoft.com/office/drawing/2014/main" id="{AC099714-926C-46B0-82A8-1F74404DBE04}"/>
              </a:ext>
            </a:extLst>
          </p:cNvPr>
          <p:cNvSpPr txBox="1"/>
          <p:nvPr/>
        </p:nvSpPr>
        <p:spPr>
          <a:xfrm>
            <a:off x="452761" y="1775534"/>
            <a:ext cx="10138299" cy="2494529"/>
          </a:xfrm>
          <a:prstGeom prst="rect">
            <a:avLst/>
          </a:prstGeom>
          <a:noFill/>
        </p:spPr>
        <p:txBody>
          <a:bodyPr wrap="square" rtlCol="0">
            <a:spAutoFit/>
          </a:bodyPr>
          <a:lstStyle/>
          <a:p>
            <a:pPr marL="285750" indent="-285750">
              <a:buFont typeface="Arial" panose="020B0604020202020204" pitchFamily="34" charset="0"/>
              <a:buChar char="•"/>
            </a:pPr>
            <a:r>
              <a:rPr lang="en-US" dirty="0"/>
              <a:t>Programming language:</a:t>
            </a:r>
          </a:p>
          <a:p>
            <a:pPr marL="285750" indent="-285750">
              <a:buFont typeface="Arial" panose="020B0604020202020204" pitchFamily="34" charset="0"/>
              <a:buChar char="•"/>
            </a:pPr>
            <a:endParaRPr lang="en-US" dirty="0"/>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indenting and layout - For this we will use CSS</a:t>
            </a:r>
            <a:r>
              <a:rPr lang="en-IN" dirty="0">
                <a:latin typeface="Times New Roman" panose="02020603050405020304" pitchFamily="18" charset="0"/>
                <a:ea typeface="Times New Roman" panose="02020603050405020304" pitchFamily="18" charset="0"/>
              </a:rPr>
              <a:t> html.</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For database implementation – </a:t>
            </a:r>
            <a:r>
              <a:rPr lang="en-IN" dirty="0" err="1">
                <a:latin typeface="Times New Roman" panose="02020603050405020304" pitchFamily="18" charset="0"/>
                <a:ea typeface="Times New Roman" panose="02020603050405020304" pitchFamily="18" charset="0"/>
              </a:rPr>
              <a:t>sqla</a:t>
            </a:r>
            <a:r>
              <a:rPr lang="en-IN" dirty="0" err="1">
                <a:effectLst/>
                <a:latin typeface="Times New Roman" panose="02020603050405020304" pitchFamily="18" charset="0"/>
                <a:ea typeface="Times New Roman" panose="02020603050405020304" pitchFamily="18" charset="0"/>
              </a:rPr>
              <a:t>lchemy</a:t>
            </a:r>
            <a:r>
              <a:rPr lang="en-IN" dirty="0">
                <a:latin typeface="Times New Roman" panose="02020603050405020304" pitchFamily="18" charset="0"/>
                <a:ea typeface="Times New Roman" panose="02020603050405020304" pitchFamily="18" charset="0"/>
              </a:rPr>
              <a:t>, flask.</a:t>
            </a:r>
            <a:endParaRPr lang="en-IN" dirty="0">
              <a:effectLst/>
              <a:latin typeface="Times New Roman" panose="02020603050405020304" pitchFamily="18" charset="0"/>
              <a:ea typeface="Times New Roman" panose="02020603050405020304" pitchFamily="18"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 for validation of password  we use python and </a:t>
            </a:r>
            <a:r>
              <a:rPr lang="en-IN" dirty="0" err="1">
                <a:effectLst/>
                <a:latin typeface="Times New Roman" panose="02020603050405020304" pitchFamily="18" charset="0"/>
                <a:ea typeface="Times New Roman" panose="02020603050405020304" pitchFamily="18" charset="0"/>
              </a:rPr>
              <a:t>bcrypt</a:t>
            </a:r>
            <a:r>
              <a:rPr lang="en-IN" dirty="0">
                <a:effectLst/>
                <a:latin typeface="Times New Roman" panose="02020603050405020304" pitchFamily="18" charset="0"/>
                <a:ea typeface="Times New Roman" panose="02020603050405020304" pitchFamily="18" charset="0"/>
              </a:rPr>
              <a:t> </a:t>
            </a:r>
            <a:endParaRPr lang="en-IN"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3426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90FF6-A90D-410B-96E8-FA2818F1211D}"/>
              </a:ext>
            </a:extLst>
          </p:cNvPr>
          <p:cNvSpPr>
            <a:spLocks noGrp="1"/>
          </p:cNvSpPr>
          <p:nvPr>
            <p:ph type="ctrTitle"/>
          </p:nvPr>
        </p:nvSpPr>
        <p:spPr>
          <a:xfrm>
            <a:off x="546486" y="433866"/>
            <a:ext cx="7239231" cy="1039827"/>
          </a:xfrm>
        </p:spPr>
        <p:txBody>
          <a:bodyPr/>
          <a:lstStyle/>
          <a:p>
            <a:r>
              <a:rPr lang="en-US" dirty="0"/>
              <a:t>Software Development:</a:t>
            </a:r>
            <a:endParaRPr lang="en-IN" dirty="0"/>
          </a:p>
        </p:txBody>
      </p:sp>
      <p:sp>
        <p:nvSpPr>
          <p:cNvPr id="6" name="Date Placeholder 5">
            <a:extLst>
              <a:ext uri="{FF2B5EF4-FFF2-40B4-BE49-F238E27FC236}">
                <a16:creationId xmlns:a16="http://schemas.microsoft.com/office/drawing/2014/main" id="{D8A7C535-0B1E-486E-AF9B-92F46C500A66}"/>
              </a:ext>
            </a:extLst>
          </p:cNvPr>
          <p:cNvSpPr>
            <a:spLocks noGrp="1"/>
          </p:cNvSpPr>
          <p:nvPr>
            <p:ph type="dt" sz="half" idx="10"/>
          </p:nvPr>
        </p:nvSpPr>
        <p:spPr>
          <a:xfrm>
            <a:off x="550863" y="6507212"/>
            <a:ext cx="2628900" cy="153888"/>
          </a:xfrm>
        </p:spPr>
        <p:txBody>
          <a:bodyPr/>
          <a:lstStyle/>
          <a:p>
            <a:r>
              <a:rPr lang="en-US"/>
              <a:t>Tuesday, February 2, 20XX</a:t>
            </a:r>
          </a:p>
        </p:txBody>
      </p:sp>
      <p:sp>
        <p:nvSpPr>
          <p:cNvPr id="7" name="Footer Placeholder 6">
            <a:extLst>
              <a:ext uri="{FF2B5EF4-FFF2-40B4-BE49-F238E27FC236}">
                <a16:creationId xmlns:a16="http://schemas.microsoft.com/office/drawing/2014/main" id="{CF7B5B73-4E44-4A77-8A86-1A15AA9889B2}"/>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9EE2D3D9-4ADD-4D48-BAD2-7826A965707B}"/>
              </a:ext>
            </a:extLst>
          </p:cNvPr>
          <p:cNvSpPr>
            <a:spLocks noGrp="1"/>
          </p:cNvSpPr>
          <p:nvPr>
            <p:ph type="sldNum" sz="quarter" idx="12"/>
          </p:nvPr>
        </p:nvSpPr>
        <p:spPr/>
        <p:txBody>
          <a:bodyPr/>
          <a:lstStyle/>
          <a:p>
            <a:fld id="{DBA1B0FB-D917-4C8C-928F-313BD683BF39}" type="slidenum">
              <a:rPr lang="en-US" smtClean="0"/>
              <a:t>9</a:t>
            </a:fld>
            <a:endParaRPr lang="en-US"/>
          </a:p>
        </p:txBody>
      </p:sp>
      <p:sp>
        <p:nvSpPr>
          <p:cNvPr id="10" name="TextBox 9">
            <a:extLst>
              <a:ext uri="{FF2B5EF4-FFF2-40B4-BE49-F238E27FC236}">
                <a16:creationId xmlns:a16="http://schemas.microsoft.com/office/drawing/2014/main" id="{1E88EF43-90E6-4CEA-9531-74D2169E7D8A}"/>
              </a:ext>
            </a:extLst>
          </p:cNvPr>
          <p:cNvSpPr txBox="1"/>
          <p:nvPr/>
        </p:nvSpPr>
        <p:spPr>
          <a:xfrm>
            <a:off x="435006" y="2239475"/>
            <a:ext cx="8740065" cy="3009350"/>
          </a:xfrm>
          <a:prstGeom prst="rect">
            <a:avLst/>
          </a:prstGeom>
          <a:noFill/>
        </p:spPr>
        <p:txBody>
          <a:bodyPr wrap="square">
            <a:spAutoFit/>
          </a:bodyPr>
          <a:lstStyle/>
          <a:p>
            <a:pPr marL="342900" lvl="0" indent="-342900" fontAlgn="base">
              <a:lnSpc>
                <a:spcPct val="115000"/>
              </a:lnSpc>
              <a:spcBef>
                <a:spcPts val="800"/>
              </a:spcBef>
              <a:spcAft>
                <a:spcPts val="1000"/>
              </a:spcAft>
              <a:buFont typeface="+mj-lt"/>
              <a:buAutoNum type="arabicPeriod"/>
            </a:pPr>
            <a:r>
              <a:rPr lang="en-IN" dirty="0">
                <a:effectLst/>
                <a:latin typeface="Times New Roman" panose="02020603050405020304" pitchFamily="18" charset="0"/>
                <a:ea typeface="Times New Roman" panose="02020603050405020304" pitchFamily="18" charset="0"/>
              </a:rPr>
              <a:t>The list may include:</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an application development tool – visual studio code</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HTML authoring tool</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a word processor for documentation - MS Word</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a tool for drawing diagrams – DIA</a:t>
            </a:r>
            <a:endParaRPr lang="en-IN" dirty="0">
              <a:effectLst/>
              <a:latin typeface="Calibri" panose="020F0502020204030204" pitchFamily="34" charset="0"/>
              <a:ea typeface="Calibri" panose="020F0502020204030204" pitchFamily="34" charset="0"/>
            </a:endParaRPr>
          </a:p>
          <a:p>
            <a:pPr marL="685800" lvl="1" indent="-228600" algn="just" fontAlgn="base">
              <a:lnSpc>
                <a:spcPct val="115000"/>
              </a:lnSpc>
              <a:spcBef>
                <a:spcPts val="600"/>
              </a:spcBef>
              <a:spcAft>
                <a:spcPts val="1000"/>
              </a:spcAft>
              <a:buFont typeface="+mj-lt"/>
              <a:buAutoNum type="alphaLcPeriod"/>
            </a:pPr>
            <a:r>
              <a:rPr lang="en-IN" dirty="0">
                <a:effectLst/>
                <a:latin typeface="Times New Roman" panose="02020603050405020304" pitchFamily="18" charset="0"/>
                <a:ea typeface="Times New Roman" panose="02020603050405020304" pitchFamily="18" charset="0"/>
              </a:rPr>
              <a:t>database management tools – </a:t>
            </a:r>
            <a:r>
              <a:rPr lang="en-IN" dirty="0" err="1">
                <a:latin typeface="Times New Roman" panose="02020603050405020304" pitchFamily="18" charset="0"/>
                <a:ea typeface="Times New Roman" panose="02020603050405020304" pitchFamily="18" charset="0"/>
              </a:rPr>
              <a:t>sqlalchemy</a:t>
            </a:r>
            <a:r>
              <a:rPr lang="en-IN" dirty="0">
                <a:latin typeface="Times New Roman" panose="02020603050405020304" pitchFamily="18" charset="0"/>
                <a:ea typeface="Times New Roman" panose="02020603050405020304" pitchFamily="18" charset="0"/>
              </a:rPr>
              <a:t> , flask</a:t>
            </a:r>
            <a:endParaRPr lang="en-IN"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15939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4122115C-9BD0-4479-89C8-501FF2679C1C}"/>
              </a:ext>
            </a:extLst>
          </p:cNvPr>
          <p:cNvSpPr>
            <a:spLocks noGrp="1"/>
          </p:cNvSpPr>
          <p:nvPr>
            <p:ph type="dt" sz="half" idx="10"/>
          </p:nvPr>
        </p:nvSpPr>
        <p:spPr/>
        <p:txBody>
          <a:bodyPr/>
          <a:lstStyle/>
          <a:p>
            <a:endParaRPr lang="en-US" dirty="0"/>
          </a:p>
        </p:txBody>
      </p:sp>
      <p:sp>
        <p:nvSpPr>
          <p:cNvPr id="7" name="Footer Placeholder 6">
            <a:extLst>
              <a:ext uri="{FF2B5EF4-FFF2-40B4-BE49-F238E27FC236}">
                <a16:creationId xmlns:a16="http://schemas.microsoft.com/office/drawing/2014/main" id="{65982077-9598-453B-8BE6-571FB2FAF019}"/>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7B0D7F4E-04BF-44AA-A74C-EF9371021298}"/>
              </a:ext>
            </a:extLst>
          </p:cNvPr>
          <p:cNvSpPr>
            <a:spLocks noGrp="1"/>
          </p:cNvSpPr>
          <p:nvPr>
            <p:ph type="sldNum" sz="quarter" idx="12"/>
          </p:nvPr>
        </p:nvSpPr>
        <p:spPr/>
        <p:txBody>
          <a:bodyPr/>
          <a:lstStyle/>
          <a:p>
            <a:fld id="{DBA1B0FB-D917-4C8C-928F-313BD683BF39}" type="slidenum">
              <a:rPr lang="en-US" smtClean="0"/>
              <a:t>10</a:t>
            </a:fld>
            <a:endParaRPr lang="en-US"/>
          </a:p>
        </p:txBody>
      </p:sp>
      <p:sp>
        <p:nvSpPr>
          <p:cNvPr id="2" name="TextBox 1">
            <a:extLst>
              <a:ext uri="{FF2B5EF4-FFF2-40B4-BE49-F238E27FC236}">
                <a16:creationId xmlns:a16="http://schemas.microsoft.com/office/drawing/2014/main" id="{BFEA06DD-4E29-ED7A-2969-871C4D4C7989}"/>
              </a:ext>
            </a:extLst>
          </p:cNvPr>
          <p:cNvSpPr txBox="1"/>
          <p:nvPr/>
        </p:nvSpPr>
        <p:spPr>
          <a:xfrm>
            <a:off x="3944471" y="2659559"/>
            <a:ext cx="8247529" cy="769441"/>
          </a:xfrm>
          <a:prstGeom prst="rect">
            <a:avLst/>
          </a:prstGeom>
          <a:noFill/>
        </p:spPr>
        <p:txBody>
          <a:bodyPr wrap="square" rtlCol="0">
            <a:spAutoFit/>
          </a:bodyPr>
          <a:lstStyle/>
          <a:p>
            <a:r>
              <a:rPr lang="en-IN" sz="4400" dirty="0"/>
              <a:t>THANKYOU!</a:t>
            </a:r>
          </a:p>
        </p:txBody>
      </p:sp>
    </p:spTree>
    <p:extLst>
      <p:ext uri="{BB962C8B-B14F-4D97-AF65-F5344CB8AC3E}">
        <p14:creationId xmlns:p14="http://schemas.microsoft.com/office/powerpoint/2010/main" val="1753086931"/>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04751AB-E840-446F-8D49-E697067EC88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{DE420784-46F2-4469-90E1-5D1F44EE26B3}tf33713516_win32</Template>
  <TotalTime>105</TotalTime>
  <Words>555</Words>
  <Application>Microsoft Office PowerPoint</Application>
  <PresentationFormat>Widescreen</PresentationFormat>
  <Paragraphs>64</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Times New Roman</vt:lpstr>
      <vt:lpstr>Walbaum Display</vt:lpstr>
      <vt:lpstr>3DFloatVTI</vt:lpstr>
      <vt:lpstr>COVID  WEB APPLICATION </vt:lpstr>
      <vt:lpstr>INDEX</vt:lpstr>
      <vt:lpstr>Introduction</vt:lpstr>
      <vt:lpstr>Scope of the project :   </vt:lpstr>
      <vt:lpstr>Problem definition:</vt:lpstr>
      <vt:lpstr>Requirements: </vt:lpstr>
      <vt:lpstr>The functionalities of our website include:        The admin will give their inputs, Each user will have to provide their basic info to first login and then provide with all the information required to update the hospital data  The admin will be able to add real time data  as well as all the other information related to the bed availability   The admin will be able to login and only enter the required details and will not be able to make any changes to other users data or any related data  The admin can make any changes in the outlook of the website and all the data pertaining to the website.      </vt:lpstr>
      <vt:lpstr>System development: </vt:lpstr>
      <vt:lpstr>Software Development: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  WEB APPLICATION</dc:title>
  <dc:creator>16010120070_FY_Gala Dhairye Paresh</dc:creator>
  <cp:lastModifiedBy>16010120070_FY_Gala Dhairye Paresh</cp:lastModifiedBy>
  <cp:revision>4</cp:revision>
  <dcterms:created xsi:type="dcterms:W3CDTF">2022-03-14T10:12:58Z</dcterms:created>
  <dcterms:modified xsi:type="dcterms:W3CDTF">2022-05-13T07:27:56Z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